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"/>
      <p:regular r:id="rId17"/>
    </p:embeddedFont>
    <p:embeddedFont>
      <p:font typeface="Outfit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  <p:embeddedFont>
      <p:font typeface="Bit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93" y="555546"/>
            <a:ext cx="7730014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Дополнение моделирования угроз ФСТЭК анализом MITRE ATT&amp;CK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3393" y="2719149"/>
            <a:ext cx="77300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Дополнение модели угроз безопасности информации, составленной по методике ФСТЭК России, анализом по матрице MITRE ATT&amp;CK.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193393" y="3532584"/>
            <a:ext cx="77300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Объект защиты: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информационная система ИП «Продовольственный магазин».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93393" y="4346019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В состав объекта входят: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193393" y="4853940"/>
            <a:ext cx="7730014" cy="282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Кассовый узел и онлайн-касса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Товароучетная система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АРМ кассира, товароведа, бухгалтера и владельца ИП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Сайт или форма предварительного заказа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База клиентов и программа лояльности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Локальная сеть, Wi-Fi, Интернет-канал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Интеграции с банком-эквайером, ОФД, поставщиками и сервисами уведомлений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4817"/>
            <a:ext cx="102762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Зачем дополнять методику ФСТЭК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443758"/>
            <a:ext cx="6571417" cy="4391025"/>
          </a:xfrm>
          <a:prstGeom prst="roundRect">
            <a:avLst>
              <a:gd name="adj" fmla="val 775"/>
            </a:avLst>
          </a:prstGeom>
          <a:solidFill>
            <a:srgbClr val="9FA58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670572"/>
            <a:ext cx="3827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Что даёт методика ФСТЭК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25171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Методика ФСТЭК России позволяет определить: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3818692"/>
            <a:ext cx="6117788" cy="293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Границу оценки угроз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Защищаемые активы и объекты воздействия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Возможные негативные последствия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Источники угроз и категории нарушителей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Актуальные угрозы из БДУ ФСТЭК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Вывод об актуальности угроз безопасности информации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670572"/>
            <a:ext cx="42169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Что добавляет MITRE ATT&amp;CK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25171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Но формальный перечень угроз не всегда показывает, как именно нарушитель будет действовать на практике.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54449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 ATT&amp;CK дополняет модель угроз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сценарным описанием атаки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от разведки и первичного доступа до сбора данных, вывода информации и воздействия на доступность.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37567"/>
            <a:ext cx="7921704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Роль MITRE ATT&amp;CK в модели угроз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68147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 ATT&amp;CK — база знаний о тактиках и техниках атакующих.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01460" y="1914644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Тактика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1460" y="2329815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Отвечает на вопрос: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зачем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нарушитель выполняет действие.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01460" y="2706767"/>
            <a:ext cx="589752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Примеры: Reconnaissance, Initial Access, Credential Access, Discovery, Collection, Exfiltration, Impact.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38799" y="1914644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Техника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38799" y="2329815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Отвечает на вопрос: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как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нарушитель выполняет действие.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38799" y="2706767"/>
            <a:ext cx="589752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Примеры: Active Scanning, Phishing, Exploit Public-Facing Application, Data from Local System, Exfiltration Over C2 Channel.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1460" y="3543776"/>
            <a:ext cx="41171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Практическая польза MITRE ATT&amp;CK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201460" y="4028242"/>
            <a:ext cx="6044446" cy="1636514"/>
          </a:xfrm>
          <a:prstGeom prst="roundRect">
            <a:avLst>
              <a:gd name="adj" fmla="val 1624"/>
            </a:avLst>
          </a:prstGeom>
          <a:solidFill>
            <a:srgbClr val="3B3C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8625" y="4205407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9FA58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833" y="4351615"/>
            <a:ext cx="239197" cy="23919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8625" y="487537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Сценарии атак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378625" y="5235178"/>
            <a:ext cx="56901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Превращает угрозы ФСТЭК в понятные сценарии атак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384256" y="4028242"/>
            <a:ext cx="6044565" cy="1636514"/>
          </a:xfrm>
          <a:prstGeom prst="roundRect">
            <a:avLst>
              <a:gd name="adj" fmla="val 1624"/>
            </a:avLst>
          </a:prstGeom>
          <a:solidFill>
            <a:srgbClr val="3B3C3E"/>
          </a:solidFill>
          <a:ln/>
        </p:spPr>
      </p:sp>
      <p:sp>
        <p:nvSpPr>
          <p:cNvPr id="17" name="Shape 14"/>
          <p:cNvSpPr/>
          <p:nvPr/>
        </p:nvSpPr>
        <p:spPr>
          <a:xfrm>
            <a:off x="7561421" y="4205407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9FA58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7630" y="4351615"/>
            <a:ext cx="239197" cy="2391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61421" y="4875371"/>
            <a:ext cx="27266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Наблюдаемые события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561421" y="5235178"/>
            <a:ext cx="569023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Помогает определить наблюдаемые события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1201460" y="5803106"/>
            <a:ext cx="6044446" cy="1888927"/>
          </a:xfrm>
          <a:prstGeom prst="roundRect">
            <a:avLst>
              <a:gd name="adj" fmla="val 1407"/>
            </a:avLst>
          </a:prstGeom>
          <a:solidFill>
            <a:srgbClr val="3B3C3E"/>
          </a:solidFill>
          <a:ln/>
        </p:spPr>
      </p:sp>
      <p:sp>
        <p:nvSpPr>
          <p:cNvPr id="22" name="Shape 18"/>
          <p:cNvSpPr/>
          <p:nvPr/>
        </p:nvSpPr>
        <p:spPr>
          <a:xfrm>
            <a:off x="1378625" y="5980271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9FA58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833" y="6126480"/>
            <a:ext cx="239197" cy="23919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8625" y="665023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Мониторинг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378625" y="7010043"/>
            <a:ext cx="56901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Связывает угрозы с журналированием и мониторингом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7384256" y="5803106"/>
            <a:ext cx="6044565" cy="1888927"/>
          </a:xfrm>
          <a:prstGeom prst="roundRect">
            <a:avLst>
              <a:gd name="adj" fmla="val 1407"/>
            </a:avLst>
          </a:prstGeom>
          <a:solidFill>
            <a:srgbClr val="3B3C3E"/>
          </a:solidFill>
          <a:ln/>
        </p:spPr>
      </p:sp>
      <p:sp>
        <p:nvSpPr>
          <p:cNvPr id="27" name="Shape 22"/>
          <p:cNvSpPr/>
          <p:nvPr/>
        </p:nvSpPr>
        <p:spPr>
          <a:xfrm>
            <a:off x="7561421" y="5980271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9FA58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7630" y="6126480"/>
            <a:ext cx="239197" cy="23919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61421" y="665023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Меры защиты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561421" y="7010043"/>
            <a:ext cx="569023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Помогает выбирать меры защиты под конкретные действия нарушителя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89466"/>
            <a:ext cx="1149893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Основные активы продовольственного магазина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20046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Критичные активы информационной системы: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60" y="1728192"/>
            <a:ext cx="1287780" cy="795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1460" y="2697004"/>
            <a:ext cx="292703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1. Кассовый узел и онлайн-касса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01460" y="3333631"/>
            <a:ext cx="2927033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Обеспечивают оформление продаж, печать чеков и передачу фискальных данных. Критичны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целостность и доступность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490" y="1728192"/>
            <a:ext cx="1287899" cy="7959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1490" y="2697123"/>
            <a:ext cx="292715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2. Товароучетная система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301490" y="3333750"/>
            <a:ext cx="2927152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Хранит остатки, цены, поставки, списания и результаты инвентаризации. Критичны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целостность, доступность и конфиденциальность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639" y="1728192"/>
            <a:ext cx="1287780" cy="7958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1639" y="2697004"/>
            <a:ext cx="292703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3. База клиентов и программа лояльности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401639" y="3333631"/>
            <a:ext cx="2927033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Содержит контакты клиентов, историю покупок, скидки и бонусы. Критичны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конфиденциальность и целостность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670" y="1728192"/>
            <a:ext cx="1287899" cy="7959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01670" y="2697123"/>
            <a:ext cx="22852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4. АРМ сотрудников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0501670" y="3056930"/>
            <a:ext cx="2927152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Используются кассиром, товароведом, бухгалтером и владельцем ИП. Критичны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конфиденциальность, целостность и доступность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460" y="4872633"/>
            <a:ext cx="1287780" cy="7958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1460" y="5841444"/>
            <a:ext cx="292703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5. Сеть и внешние интеграции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1201460" y="6478072"/>
            <a:ext cx="2927033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Обеспечивают связь с банком, ОФД, поставщиками и облачными сервисами. Критичны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доступность и защищенность каналов связи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87229"/>
            <a:ext cx="108918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Актуальные угрозы по ФСТЭК для объекта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654612"/>
            <a:ext cx="132411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Для ИП «Продовольственный магазин» наиболее актуальны следующие группы угроз: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4611" y="2147530"/>
            <a:ext cx="4297918" cy="2759393"/>
          </a:xfrm>
          <a:prstGeom prst="roundRect">
            <a:avLst>
              <a:gd name="adj" fmla="val 397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1751" y="2147530"/>
            <a:ext cx="91440" cy="2759393"/>
          </a:xfrm>
          <a:prstGeom prst="roundRect">
            <a:avLst>
              <a:gd name="adj" fmla="val 32558"/>
            </a:avLst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984409" y="2368748"/>
            <a:ext cx="378690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1. Компрометация учетных данных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84409" y="3093244"/>
            <a:ext cx="3786902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Повторное использование паролей, фишинг, кража сохранённых паролей с АРМ сотрудника.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4409" y="4090392"/>
            <a:ext cx="378690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УБИ.008, УБИ.046, УБИ.167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166122" y="2147530"/>
            <a:ext cx="4298037" cy="2759393"/>
          </a:xfrm>
          <a:prstGeom prst="roundRect">
            <a:avLst>
              <a:gd name="adj" fmla="val 397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262" y="2147530"/>
            <a:ext cx="91440" cy="2759393"/>
          </a:xfrm>
          <a:prstGeom prst="roundRect">
            <a:avLst>
              <a:gd name="adj" fmla="val 32558"/>
            </a:avLst>
          </a:prstGeom>
          <a:solidFill>
            <a:srgbClr val="9FA582"/>
          </a:solidFill>
          <a:ln/>
        </p:spPr>
      </p:sp>
      <p:sp>
        <p:nvSpPr>
          <p:cNvPr id="11" name="Text 9"/>
          <p:cNvSpPr/>
          <p:nvPr/>
        </p:nvSpPr>
        <p:spPr>
          <a:xfrm>
            <a:off x="5455920" y="2368748"/>
            <a:ext cx="378702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2. Эксплуатация web-уязвимостей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55920" y="3093244"/>
            <a:ext cx="3787021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Атаки на сайт или форму заказа, ошибки обработки входных данных, доступ к файлам сервера.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55920" y="4090392"/>
            <a:ext cx="37870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УБИ.006, УБИ.015, УБИ.016, УБИ.033, УБИ.068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37752" y="2147530"/>
            <a:ext cx="4297918" cy="2759393"/>
          </a:xfrm>
          <a:prstGeom prst="roundRect">
            <a:avLst>
              <a:gd name="adj" fmla="val 397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14892" y="2147530"/>
            <a:ext cx="91440" cy="2759393"/>
          </a:xfrm>
          <a:prstGeom prst="roundRect">
            <a:avLst>
              <a:gd name="adj" fmla="val 32558"/>
            </a:avLst>
          </a:prstGeom>
          <a:solidFill>
            <a:srgbClr val="9FA582"/>
          </a:solidFill>
          <a:ln/>
        </p:spPr>
      </p:sp>
      <p:sp>
        <p:nvSpPr>
          <p:cNvPr id="16" name="Text 14"/>
          <p:cNvSpPr/>
          <p:nvPr/>
        </p:nvSpPr>
        <p:spPr>
          <a:xfrm>
            <a:off x="9927550" y="2368748"/>
            <a:ext cx="378690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3. Неправомерный доступ к данным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27550" y="3093244"/>
            <a:ext cx="3786902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Выгрузка клиентской базы, заказов, отчетов, цен поставщиков и резервных копий.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927550" y="4090392"/>
            <a:ext cx="378690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УБИ.067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94611" y="5080516"/>
            <a:ext cx="4297918" cy="2461736"/>
          </a:xfrm>
          <a:prstGeom prst="roundRect">
            <a:avLst>
              <a:gd name="adj" fmla="val 445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751" y="5080516"/>
            <a:ext cx="91440" cy="2461736"/>
          </a:xfrm>
          <a:prstGeom prst="roundRect">
            <a:avLst>
              <a:gd name="adj" fmla="val 32558"/>
            </a:avLst>
          </a:prstGeom>
          <a:solidFill>
            <a:srgbClr val="9FA582"/>
          </a:solidFill>
          <a:ln/>
        </p:spPr>
      </p:sp>
      <p:sp>
        <p:nvSpPr>
          <p:cNvPr id="21" name="Text 19"/>
          <p:cNvSpPr/>
          <p:nvPr/>
        </p:nvSpPr>
        <p:spPr>
          <a:xfrm>
            <a:off x="984409" y="5301734"/>
            <a:ext cx="378690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4. Изменение конфигурации и компонентов системы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84409" y="6026229"/>
            <a:ext cx="3786902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Изменение настроек кассы, роутера, сервера учёта или модулей интеграции.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4409" y="7023378"/>
            <a:ext cx="378690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УБИ.012, УБИ.023, УБИ.030, УБИ.031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166122" y="5080516"/>
            <a:ext cx="4298037" cy="2461736"/>
          </a:xfrm>
          <a:prstGeom prst="roundRect">
            <a:avLst>
              <a:gd name="adj" fmla="val 445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262" y="5080516"/>
            <a:ext cx="91440" cy="2461736"/>
          </a:xfrm>
          <a:prstGeom prst="roundRect">
            <a:avLst>
              <a:gd name="adj" fmla="val 32558"/>
            </a:avLst>
          </a:prstGeom>
          <a:solidFill>
            <a:srgbClr val="9FA582"/>
          </a:solidFill>
          <a:ln/>
        </p:spPr>
      </p:sp>
      <p:sp>
        <p:nvSpPr>
          <p:cNvPr id="26" name="Text 24"/>
          <p:cNvSpPr/>
          <p:nvPr/>
        </p:nvSpPr>
        <p:spPr>
          <a:xfrm>
            <a:off x="5455920" y="5301734"/>
            <a:ext cx="34640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5. Нарушение доступности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5455920" y="5716072"/>
            <a:ext cx="37870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Перегрузка сайта, отказ сервера учёта, проблемы с каналами связи.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455920" y="6415564"/>
            <a:ext cx="37870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УБИ.014, УБИ.022, УБИ.034, УБИ.069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06968"/>
            <a:ext cx="11953518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Соответствие угроз ФСТЭК и техник MITRE ATT&amp;CK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6905" y="1382316"/>
            <a:ext cx="1271647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Пример сопоставления для объекта защиты: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56905" y="1817846"/>
            <a:ext cx="12716470" cy="5046821"/>
          </a:xfrm>
          <a:prstGeom prst="roundRect">
            <a:avLst>
              <a:gd name="adj" fmla="val 54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525" y="1825466"/>
            <a:ext cx="12701230" cy="4619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8834" y="1922859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Угроза ФСТЭК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92843" y="1922859"/>
            <a:ext cx="49584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Смысл угрозы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027319" y="1922859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Техника MITRE ATT&amp;CK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64525" y="2287429"/>
            <a:ext cx="12701230" cy="729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8834" y="2384822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УБИ.036, УБИ.037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92843" y="2384822"/>
            <a:ext cx="49584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Исследование сайта, ошибок и механизмов работы приложения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027319" y="2384822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T1595 Active Scanning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64525" y="3016568"/>
            <a:ext cx="12701230" cy="729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8834" y="3113961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УБИ.006, УБИ.033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92843" y="3113961"/>
            <a:ext cx="49584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Эксплуатация слабостей входных данных и внедрение кода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27319" y="3113961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T1190 Exploit Public-Facing Application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64525" y="3745706"/>
            <a:ext cx="12701230" cy="729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8834" y="3843099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УБИ.008, УБИ.167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692843" y="3843099"/>
            <a:ext cx="49584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Фишинг и компрометация учётных данных сотрудников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027319" y="3843099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T1566 Phishing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64525" y="4474845"/>
            <a:ext cx="12701230" cy="4619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8834" y="4572238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УБИ.046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692843" y="4572238"/>
            <a:ext cx="49584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Нарушение процедуры аутентификации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27319" y="4572238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T1555 Credentials from Password Stores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64525" y="4936808"/>
            <a:ext cx="12701230" cy="729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8834" y="5034201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УБИ.067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92843" y="5034201"/>
            <a:ext cx="49584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Неправомерное ознакомление с защищаемой информацией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027319" y="5034201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T1005 Data from Local System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64525" y="5665946"/>
            <a:ext cx="12701230" cy="729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48834" y="5763339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УБИ.069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692843" y="5763339"/>
            <a:ext cx="49584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Неправомерные действия в каналах связи и вывод данных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027319" y="5763339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T1041 Exfiltration Over C2 Channel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64525" y="6395085"/>
            <a:ext cx="12701230" cy="4619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48834" y="6492478"/>
            <a:ext cx="216800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УБИ.014, УБИ.022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692843" y="6492478"/>
            <a:ext cx="49584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Перегрузка ресурсов и нарушение доступности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027319" y="6492478"/>
            <a:ext cx="445424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T1499 Endpoint Denial of Service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956905" y="7033022"/>
            <a:ext cx="12716470" cy="689491"/>
          </a:xfrm>
          <a:prstGeom prst="roundRect">
            <a:avLst>
              <a:gd name="adj" fmla="val 4009"/>
            </a:avLst>
          </a:prstGeom>
          <a:solidFill>
            <a:srgbClr val="022349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095" y="7300079"/>
            <a:ext cx="230267" cy="18419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555552" y="7228642"/>
            <a:ext cx="11933634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Такое сопоставление показывает, какие конкретные действия нарушителя стоят за выбранными угрозами.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31971"/>
            <a:ext cx="11738253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Пример сценария атаки на ИП «Продовольственный магазин»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46014" y="1850350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Сценарий: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компрометация сотрудника и утечка клиентской базы.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6014" y="223194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46014" y="2498169"/>
            <a:ext cx="5805368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1446014" y="262890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Разведка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46014" y="2971086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Нарушитель сканирует сайт заказа, удалённые сервисы и открытые сетевые порты магазина.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6014" y="3523774"/>
            <a:ext cx="58053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MITRE: T1595 Active Scanning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78898" y="223194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78898" y="2498169"/>
            <a:ext cx="5805368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1" name="Text 9"/>
          <p:cNvSpPr/>
          <p:nvPr/>
        </p:nvSpPr>
        <p:spPr>
          <a:xfrm>
            <a:off x="7378898" y="262890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Первичный доступ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378898" y="2971086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Нарушитель отправляет фишинговое письмо кассиру, товароведу или владельцу ИП от имени банка, поставщика или ОФД.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78898" y="3523774"/>
            <a:ext cx="58053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MITRE: T1566 Phishing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6014" y="4016931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46014" y="4283154"/>
            <a:ext cx="5805368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6" name="Text 14"/>
          <p:cNvSpPr/>
          <p:nvPr/>
        </p:nvSpPr>
        <p:spPr>
          <a:xfrm>
            <a:off x="1446014" y="4413885"/>
            <a:ext cx="31151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Получение учётных данных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46014" y="4756071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На АРМ сотрудника извлекаются сохранённые пароли или токены доступа.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46014" y="5308759"/>
            <a:ext cx="58053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MITRE: T1555 Credentials from Password Stores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78898" y="4016931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78898" y="4283154"/>
            <a:ext cx="5805368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78898" y="44138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Поиск данных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78898" y="4756071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Нарушитель ищет выгрузки клиентов, отчёты, резервные копии, конфигурации и ключи доступа.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78898" y="5308759"/>
            <a:ext cx="58053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MITRE: T1083 File and Directory Discovery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46014" y="580191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46014" y="6068139"/>
            <a:ext cx="5805368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6" name="Text 24"/>
          <p:cNvSpPr/>
          <p:nvPr/>
        </p:nvSpPr>
        <p:spPr>
          <a:xfrm>
            <a:off x="1446014" y="6198870"/>
            <a:ext cx="238315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Сбор и вывод данных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46014" y="6541056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Копируется база клиентов, история заказов и служебные файлы, затем данные выводятся через сетевой канал.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46014" y="7093744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MITRE: T1005 Data from Local System, T1041 Exfiltration Over C2 Channel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78898" y="580191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78898" y="6068139"/>
            <a:ext cx="5805368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31" name="Text 29"/>
          <p:cNvSpPr/>
          <p:nvPr/>
        </p:nvSpPr>
        <p:spPr>
          <a:xfrm>
            <a:off x="7378898" y="6198870"/>
            <a:ext cx="318980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Воздействие на доступность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378898" y="6541056"/>
            <a:ext cx="58053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Для отвлечения внимания создаётся нагрузка на сайт заказа или сервер учёта.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78898" y="7093744"/>
            <a:ext cx="58053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MITRE: T1499 Endpoint Denial of Service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7942"/>
            <a:ext cx="10086737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Возможные последствия сценария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790224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Реализация сценария может привести к следующим последствиям: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025" y="2375773"/>
            <a:ext cx="4222194" cy="2999303"/>
          </a:xfrm>
          <a:prstGeom prst="roundRect">
            <a:avLst>
              <a:gd name="adj" fmla="val 1099"/>
            </a:avLst>
          </a:prstGeom>
          <a:solidFill>
            <a:srgbClr val="3B3C3E"/>
          </a:solidFill>
          <a:ln/>
        </p:spPr>
      </p:sp>
      <p:sp>
        <p:nvSpPr>
          <p:cNvPr id="5" name="Text 3"/>
          <p:cNvSpPr/>
          <p:nvPr/>
        </p:nvSpPr>
        <p:spPr>
          <a:xfrm>
            <a:off x="988695" y="2595443"/>
            <a:ext cx="3782854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🔒</a:t>
            </a:r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Нарушение конфиденциальности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88695" y="3424833"/>
            <a:ext cx="3782854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Утечка персональных данных клиентов, контактной информации, истории заказов, сведений о скидках и программе лояльности.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3984" y="2375773"/>
            <a:ext cx="4222313" cy="2999303"/>
          </a:xfrm>
          <a:prstGeom prst="roundRect">
            <a:avLst>
              <a:gd name="adj" fmla="val 1099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5423654" y="2595443"/>
            <a:ext cx="3323511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💸</a:t>
            </a:r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Финансовые потери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5423654" y="3081576"/>
            <a:ext cx="378297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Простой кассы или сайта заказа, затраты на восстановление, возможные штрафы, расходы на реагирование и уведомление клиентов.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39062" y="2375773"/>
            <a:ext cx="4222313" cy="2999303"/>
          </a:xfrm>
          <a:prstGeom prst="roundRect">
            <a:avLst>
              <a:gd name="adj" fmla="val 1099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9858732" y="2595443"/>
            <a:ext cx="3782973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⚙️</a:t>
            </a:r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Нарушение целостности данных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858732" y="3424833"/>
            <a:ext cx="3782973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Изменение цен, остатков, заказов, скидок, учётных записей или конфигурации кассового и товароучётного ПО.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9025" y="5587841"/>
            <a:ext cx="6439733" cy="1963817"/>
          </a:xfrm>
          <a:prstGeom prst="roundRect">
            <a:avLst>
              <a:gd name="adj" fmla="val 1678"/>
            </a:avLst>
          </a:prstGeom>
          <a:solidFill>
            <a:srgbClr val="3B3C3E"/>
          </a:solidFill>
          <a:ln/>
        </p:spPr>
      </p:sp>
      <p:sp>
        <p:nvSpPr>
          <p:cNvPr id="14" name="Text 12"/>
          <p:cNvSpPr/>
          <p:nvPr/>
        </p:nvSpPr>
        <p:spPr>
          <a:xfrm>
            <a:off x="988695" y="5807512"/>
            <a:ext cx="3945374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🚫</a:t>
            </a:r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Нарушение доступности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988695" y="6293644"/>
            <a:ext cx="600039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Невозможность оформить продажи, принять безналичную оплату, передать фискальные данные или получить доступ к товароучётной системе.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1523" y="5587841"/>
            <a:ext cx="6439853" cy="1963817"/>
          </a:xfrm>
          <a:prstGeom prst="roundRect">
            <a:avLst>
              <a:gd name="adj" fmla="val 1678"/>
            </a:avLst>
          </a:prstGeom>
          <a:solidFill>
            <a:srgbClr val="3B3C3E"/>
          </a:solidFill>
          <a:ln/>
        </p:spPr>
      </p:sp>
      <p:sp>
        <p:nvSpPr>
          <p:cNvPr id="17" name="Text 15"/>
          <p:cNvSpPr/>
          <p:nvPr/>
        </p:nvSpPr>
        <p:spPr>
          <a:xfrm>
            <a:off x="7641193" y="5807512"/>
            <a:ext cx="3718560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📉</a:t>
            </a:r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Репутационный ущерб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641193" y="6293644"/>
            <a:ext cx="600051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Потеря доверия клиентов, снижение лояльности покупателей, риск перехода клиентов к конкурентам.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419933"/>
            <a:ext cx="6925389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Что контролировать по MITRE ATT&amp;CK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24232" y="1040130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Для практического применения модели необходимо контролировать события, связанные с техниками атаки: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24232" y="1324094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39472" y="1339334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6" name="Text 4"/>
          <p:cNvSpPr/>
          <p:nvPr/>
        </p:nvSpPr>
        <p:spPr>
          <a:xfrm>
            <a:off x="2616637" y="1616512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95030" y="1481018"/>
            <a:ext cx="18082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T1595 Active Scanning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95030" y="1755577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Частые обращения к нестандартным URL, перебор страниц, сканирование портов, ошибки 404/500.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4232" y="2263259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9472" y="2278499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2616637" y="2555677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95030" y="242018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T1566 Phishing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95030" y="2694742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Подозрительные письма, вложения, ссылки, домены, имитирующие банк, ОФД или поставщика.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4232" y="3202424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9472" y="3217664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16" name="Text 14"/>
          <p:cNvSpPr/>
          <p:nvPr/>
        </p:nvSpPr>
        <p:spPr>
          <a:xfrm>
            <a:off x="2616637" y="3494842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095030" y="3359348"/>
            <a:ext cx="32802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T1555 Credentials from Password Stores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095030" y="3633907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Попытки доступа к хранилищам паролей, запуск подозрительных утилит, обращения к профилям браузеров.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4232" y="4141589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9472" y="4156829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21" name="Text 19"/>
          <p:cNvSpPr/>
          <p:nvPr/>
        </p:nvSpPr>
        <p:spPr>
          <a:xfrm>
            <a:off x="2616637" y="4434007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3095030" y="4298513"/>
            <a:ext cx="28185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T1083 File and Directory Discovery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095030" y="4573072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Массовый просмотр каталогов, поиск файлов с именами backup, dump, config, clients, orders.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4232" y="5080754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9472" y="5095994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26" name="Text 24"/>
          <p:cNvSpPr/>
          <p:nvPr/>
        </p:nvSpPr>
        <p:spPr>
          <a:xfrm>
            <a:off x="2616637" y="5373172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095030" y="5237678"/>
            <a:ext cx="24994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T1005 Data from Local System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095030" y="5512237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Массовое чтение клиентских выгрузок, архивирование данных, создание больших архивов.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24232" y="6019919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9472" y="6035159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31" name="Text 29"/>
          <p:cNvSpPr/>
          <p:nvPr/>
        </p:nvSpPr>
        <p:spPr>
          <a:xfrm>
            <a:off x="2616637" y="6312337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6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3095030" y="6176843"/>
            <a:ext cx="28513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T1041 Exfiltration Over C2 Channel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095030" y="6451402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Нетипичный исходящий трафик, передача больших объёмов данных, соединения с неизвестными внешними узлами.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4232" y="6959084"/>
            <a:ext cx="9781937" cy="850583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39472" y="6974324"/>
            <a:ext cx="566976" cy="820103"/>
          </a:xfrm>
          <a:prstGeom prst="roundRect">
            <a:avLst>
              <a:gd name="adj" fmla="val 525"/>
            </a:avLst>
          </a:prstGeom>
          <a:solidFill>
            <a:srgbClr val="3B3C3E"/>
          </a:solidFill>
          <a:ln/>
        </p:spPr>
      </p:sp>
      <p:sp>
        <p:nvSpPr>
          <p:cNvPr id="36" name="Text 34"/>
          <p:cNvSpPr/>
          <p:nvPr/>
        </p:nvSpPr>
        <p:spPr>
          <a:xfrm>
            <a:off x="2616637" y="7251502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7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3095030" y="7116008"/>
            <a:ext cx="2669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T1499 Endpoint Denial of Service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095030" y="7390567"/>
            <a:ext cx="895421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Резкий рост запросов, исчерпание памяти или процессора, недоступность сайта, кассового сервера или учётной системы.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20554"/>
            <a:ext cx="131916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Итог: практическая ценность дополнения ФСТЭК + MITRE ATT&amp;CK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2277785"/>
            <a:ext cx="131916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Совместное применение методики ФСТЭК России и MITRE ATT&amp;CK повышает практическую ценность модели угроз.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1381" y="2800826"/>
            <a:ext cx="6641068" cy="2208014"/>
          </a:xfrm>
          <a:prstGeom prst="roundRect">
            <a:avLst>
              <a:gd name="adj" fmla="val 1396"/>
            </a:avLst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776883" y="2987040"/>
            <a:ext cx="347091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Что даёт методика ФСТЭК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6883" y="3494365"/>
            <a:ext cx="6230064" cy="138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Определяет активы, нарушителей и негативные последствия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Помогает выбрать актуальные угрозы из БДУ ФСТЭК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Формирует нормативно обоснованную модель угроз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3566" y="2987040"/>
            <a:ext cx="382369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Что добавляет MITRE ATT&amp;CK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73566" y="3494365"/>
            <a:ext cx="6345079" cy="144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Раскрывает поведение нарушителя по этапам атаки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Связывает угрозы с конкретными техниками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Помогает определить события для мониторинга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Упрощает выбор мер защиты и проверок безопасности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376" y="5218390"/>
            <a:ext cx="13191649" cy="1134904"/>
          </a:xfrm>
          <a:prstGeom prst="roundRect">
            <a:avLst>
              <a:gd name="adj" fmla="val 2717"/>
            </a:avLst>
          </a:prstGeom>
          <a:solidFill>
            <a:srgbClr val="183A1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78" y="5516285"/>
            <a:ext cx="256937" cy="2055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7316" y="5455920"/>
            <a:ext cx="1231820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Для ИП «Продовольственный магазин» наиболее важны сценарии фишинга, эксплуатации web-уязвимостей, компрометации АРМ, утечки клиентской базы и нарушения доступности кассового или товароучётного контура.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7628" y="6772394"/>
            <a:ext cx="12883396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Вывод: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модель угроз становится не только формальным документом, но и инструментом для настройки защиты, журналирования, мониторинга и реагирования на инциденты.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9376" y="6562844"/>
            <a:ext cx="22860" cy="1046083"/>
          </a:xfrm>
          <a:prstGeom prst="rect">
            <a:avLst/>
          </a:prstGeom>
          <a:solidFill>
            <a:srgbClr val="9FA5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2026-04-27T20:11:55Z</dcterms:created>
  <dcterms:modified xsi:type="dcterms:W3CDTF">2026-04-27T20:11:55Z</dcterms:modified>
</cp:coreProperties>
</file>